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-3546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2AB67-DA24-773F-DF88-552B292F9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22276-D820-AA96-7238-1EAAF14B1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D1EA9-143B-3EE5-CCD9-826FDB2F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D1502-7E65-BE39-42BD-39719D01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71B4C-EF01-FF25-4809-2A4CA799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82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7567A-3B6A-87FE-68F9-1D848260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90A0D-046B-8078-B475-AFA8DDD7C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411CA-73EC-99A1-6DDA-E9078E56D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865F1-3E29-AB2C-AF0B-C4294B64A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BCF3-09A0-282F-0CD6-C595E92E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99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4C99-837F-0B70-70D8-630A4BFE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1459C-6300-C39F-ED71-36C8019D7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34FE0-CDD8-7830-F7CE-80A076F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624A-2496-3EB5-0424-D3A35B2E6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2FB3C-AE8E-DC65-C176-063B06AD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82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CD21-D1F0-7505-E3F2-A01111AB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BE58-528C-7BAB-CCF6-DFDE3030F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BE289-B915-2F32-9D7C-C689EBC7F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6D8AB-628F-0D86-BDF0-A6FC69C9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FDCE4-191B-EE2D-18BC-D02A089D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2D4B0-5529-AB5F-603A-C48826B8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46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BC95-514A-8B75-71A8-7D81AB498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A0E9B-7CA3-FA1A-259D-E19790A83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CA3EA-B692-B8DE-62FA-620324886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0CBB3-D9E6-79C6-2948-5E858540F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93CE6-7FC9-224B-2C68-70C267060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B3B3B0-BDBD-2044-C27D-767E8F33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BF3E5-75DE-C86F-7BB2-0DBC20A87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47F96E-C041-1A48-ECAF-C5AA951A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43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F0DF-DC97-9ABE-43A1-0D9E530C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DAF11-E4D6-8DFD-DC04-67C249FB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75B52-6AB9-B236-C3F6-32D4C786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FB72A-D0B2-CC92-5D17-C33B0D1B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62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40060-8A3B-92FD-3B78-041F9940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53006-74CF-D73D-CB0C-4365CFB8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A760B-2548-FBF1-C0DE-8AA198C2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45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8AF2-7F66-44CE-761C-3B30E0D8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F770D-1384-1937-155E-64874E96A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92080-5320-4897-2ECD-2583A019A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ACD41-0E88-1C30-B79A-AD3CA0E1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6024D-5408-3018-39F9-3EA1B78D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C30D8-E603-D67C-CBB6-65EFC6DA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528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A6B3-6D9E-4145-84E3-243AEB052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9B79-2B7C-93FB-95BD-88513C960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BD345-AB9E-0327-4796-627EEEA15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0CEE6-F07B-7FE8-4FE3-41FFAAB45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7A9D1-C84F-4F62-DCA9-9027E2CEE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15B38-13B0-0056-80B6-A3EA69C1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76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7048-3DAA-CBCD-7542-B42AFEE9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399FF-B549-75C2-D1CB-5BDBC17F6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65824-3FA4-0A6F-C051-740BC3FD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1F433-1CAB-3DBD-993F-D119CE5E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4070D-46C6-F3E5-2AA2-DDE43A5C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277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7EA71-0455-D9E3-6C71-DA5981D42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83F72-8CB0-B181-32D1-267573F89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72BE4-AE60-B6F1-F8E8-5D4A9748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20957-DD14-3354-1B7F-9764B60B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B70CC-01F7-26E0-98A4-8F3C9B77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15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0D3F4-7528-C4DB-835B-BF90A1B7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BA076-EF1B-5E05-1909-09121D91D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AC7A-F868-1F1A-102E-5AB965289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0B46C-B369-4868-B851-B112AF11EF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B9685-D853-61A6-4A8D-9651B5905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6290C-B934-2771-2176-C5B54ED1C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430C8-221B-4771-AA5D-E567763375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75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BC63-1725-57DA-98A5-CD44F5A2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9200-0CEB-CD90-0E05-001514F81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23" y="1"/>
            <a:ext cx="9144000" cy="810228"/>
          </a:xfrm>
        </p:spPr>
        <p:txBody>
          <a:bodyPr>
            <a:normAutofit/>
          </a:bodyPr>
          <a:lstStyle/>
          <a:p>
            <a:pPr algn="l"/>
            <a:r>
              <a:rPr lang="en-GB" sz="4800" dirty="0"/>
              <a:t>Window Template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5E8CE4-2E3A-59FB-AC14-BE8018872D5D}"/>
              </a:ext>
            </a:extLst>
          </p:cNvPr>
          <p:cNvGrpSpPr/>
          <p:nvPr/>
        </p:nvGrpSpPr>
        <p:grpSpPr>
          <a:xfrm>
            <a:off x="2630881" y="828347"/>
            <a:ext cx="6893931" cy="5727951"/>
            <a:chOff x="1823196" y="870795"/>
            <a:chExt cx="6893931" cy="57279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A553E01-3F41-4B91-D1BD-ACF5EFB6AD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3196" y="884254"/>
              <a:ext cx="6846020" cy="5714492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51D9354-F125-84C7-2BBB-7ABF9103596F}"/>
                </a:ext>
              </a:extLst>
            </p:cNvPr>
            <p:cNvCxnSpPr/>
            <p:nvPr/>
          </p:nvCxnSpPr>
          <p:spPr>
            <a:xfrm>
              <a:off x="1828800" y="1307543"/>
              <a:ext cx="6840415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69EBBF-348E-A99E-2FFE-789F90CCCD01}"/>
                </a:ext>
              </a:extLst>
            </p:cNvPr>
            <p:cNvSpPr txBox="1"/>
            <p:nvPr/>
          </p:nvSpPr>
          <p:spPr>
            <a:xfrm>
              <a:off x="8281088" y="870795"/>
              <a:ext cx="4360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/>
                <a:t>X</a:t>
              </a:r>
              <a:endParaRPr lang="en-GB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252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47CC7-E929-65CD-6788-527918121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23" y="1"/>
            <a:ext cx="9144000" cy="810228"/>
          </a:xfrm>
        </p:spPr>
        <p:txBody>
          <a:bodyPr>
            <a:normAutofit/>
          </a:bodyPr>
          <a:lstStyle/>
          <a:p>
            <a:pPr algn="l"/>
            <a:r>
              <a:rPr lang="en-GB" sz="4800" dirty="0"/>
              <a:t>Main User Interface Sketch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F418CD2-885C-2254-2DAC-D52E74992792}"/>
              </a:ext>
            </a:extLst>
          </p:cNvPr>
          <p:cNvGrpSpPr/>
          <p:nvPr/>
        </p:nvGrpSpPr>
        <p:grpSpPr>
          <a:xfrm>
            <a:off x="2630879" y="810231"/>
            <a:ext cx="6930242" cy="5746067"/>
            <a:chOff x="1823196" y="852679"/>
            <a:chExt cx="6930242" cy="574606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B747C6D-D4B1-529C-9636-5CD787E17B4A}"/>
                </a:ext>
              </a:extLst>
            </p:cNvPr>
            <p:cNvGrpSpPr/>
            <p:nvPr/>
          </p:nvGrpSpPr>
          <p:grpSpPr>
            <a:xfrm>
              <a:off x="1823196" y="852679"/>
              <a:ext cx="6930242" cy="5746067"/>
              <a:chOff x="1823196" y="852679"/>
              <a:chExt cx="6930242" cy="574606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2701872-65B1-8E95-79FE-9C7F1BD489EB}"/>
                  </a:ext>
                </a:extLst>
              </p:cNvPr>
              <p:cNvGrpSpPr/>
              <p:nvPr/>
            </p:nvGrpSpPr>
            <p:grpSpPr>
              <a:xfrm>
                <a:off x="1823196" y="852679"/>
                <a:ext cx="6930242" cy="5746067"/>
                <a:chOff x="1823196" y="917995"/>
                <a:chExt cx="6930242" cy="5746067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3592356A-DEBF-0006-10A7-3F84EC40A2C6}"/>
                    </a:ext>
                  </a:extLst>
                </p:cNvPr>
                <p:cNvGrpSpPr/>
                <p:nvPr/>
              </p:nvGrpSpPr>
              <p:grpSpPr>
                <a:xfrm>
                  <a:off x="1823196" y="949570"/>
                  <a:ext cx="6846020" cy="5714492"/>
                  <a:chOff x="1918446" y="975801"/>
                  <a:chExt cx="5439509" cy="4540453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1A91C410-5C12-1F07-3100-80D10659B3F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918446" y="975801"/>
                    <a:ext cx="5439509" cy="4540453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ABF1B908-2407-52D6-BDC9-408B727671DB}"/>
                      </a:ext>
                    </a:extLst>
                  </p:cNvPr>
                  <p:cNvGrpSpPr/>
                  <p:nvPr/>
                </p:nvGrpSpPr>
                <p:grpSpPr>
                  <a:xfrm>
                    <a:off x="2070610" y="1528549"/>
                    <a:ext cx="5133369" cy="3796637"/>
                    <a:chOff x="2070610" y="1528549"/>
                    <a:chExt cx="5133369" cy="3796637"/>
                  </a:xfrm>
                </p:grpSpPr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0DCB1669-CBE2-EB36-2656-7B577655D0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2649" y="1528549"/>
                      <a:ext cx="2497540" cy="2552132"/>
                    </a:xfrm>
                    <a:prstGeom prst="rect">
                      <a:avLst/>
                    </a:prstGeom>
                    <a:ln w="38100"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3B483046-3B34-8956-ADC1-9A66FE1681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06439" y="1528549"/>
                      <a:ext cx="2497540" cy="2552132"/>
                      <a:chOff x="4706439" y="1528549"/>
                      <a:chExt cx="2497540" cy="2552132"/>
                    </a:xfrm>
                  </p:grpSpPr>
                  <p:sp>
                    <p:nvSpPr>
                      <p:cNvPr id="7" name="Rectangle 6">
                        <a:extLst>
                          <a:ext uri="{FF2B5EF4-FFF2-40B4-BE49-F238E27FC236}">
                            <a16:creationId xmlns:a16="http://schemas.microsoft.com/office/drawing/2014/main" id="{9C3FC3A0-29F3-37A9-1DDD-EDE5853736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6439" y="1528549"/>
                        <a:ext cx="2497540" cy="2552132"/>
                      </a:xfrm>
                      <a:prstGeom prst="rect">
                        <a:avLst/>
                      </a:prstGeom>
                      <a:ln w="3810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/>
                      </a:p>
                    </p:txBody>
                  </p:sp>
                  <p:cxnSp>
                    <p:nvCxnSpPr>
                      <p:cNvPr id="9" name="Straight Connector 8">
                        <a:extLst>
                          <a:ext uri="{FF2B5EF4-FFF2-40B4-BE49-F238E27FC236}">
                            <a16:creationId xmlns:a16="http://schemas.microsoft.com/office/drawing/2014/main" id="{9168D1F3-48D1-75A1-B324-5F77BD12D25E}"/>
                          </a:ext>
                        </a:extLst>
                      </p:cNvPr>
                      <p:cNvCxnSpPr>
                        <a:cxnSpLocks/>
                        <a:stCxn id="7" idx="1"/>
                        <a:endCxn id="7" idx="3"/>
                      </p:cNvCxnSpPr>
                      <p:nvPr/>
                    </p:nvCxnSpPr>
                    <p:spPr>
                      <a:xfrm>
                        <a:off x="4706439" y="2804615"/>
                        <a:ext cx="2497540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5" name="Group 14">
                      <a:extLst>
                        <a:ext uri="{FF2B5EF4-FFF2-40B4-BE49-F238E27FC236}">
                          <a16:creationId xmlns:a16="http://schemas.microsoft.com/office/drawing/2014/main" id="{F3C87B21-4BA2-D522-6195-D04AF8A841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70610" y="4267484"/>
                      <a:ext cx="5131330" cy="1057702"/>
                      <a:chOff x="2072649" y="4271749"/>
                      <a:chExt cx="5131330" cy="1057702"/>
                    </a:xfrm>
                  </p:grpSpPr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F9EAAEE5-D9FB-927C-07EF-2B883330E9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72649" y="4271749"/>
                        <a:ext cx="3452883" cy="1057702"/>
                      </a:xfrm>
                      <a:prstGeom prst="rect">
                        <a:avLst/>
                      </a:prstGeom>
                      <a:ln w="3810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14" name="Rectangle 13">
                        <a:extLst>
                          <a:ext uri="{FF2B5EF4-FFF2-40B4-BE49-F238E27FC236}">
                            <a16:creationId xmlns:a16="http://schemas.microsoft.com/office/drawing/2014/main" id="{3A7FBCE5-143A-E2E0-FFCA-5D96C1E333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25532" y="4271749"/>
                        <a:ext cx="1678447" cy="1057702"/>
                      </a:xfrm>
                      <a:prstGeom prst="rect">
                        <a:avLst/>
                      </a:prstGeom>
                      <a:ln w="3810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</p:grpSp>
            </p:grp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4C063D99-68D5-4B71-EEBF-52651C3FE883}"/>
                    </a:ext>
                  </a:extLst>
                </p:cNvPr>
                <p:cNvCxnSpPr/>
                <p:nvPr/>
              </p:nvCxnSpPr>
              <p:spPr>
                <a:xfrm>
                  <a:off x="1828800" y="1372859"/>
                  <a:ext cx="6840415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380F577-9583-58AF-C437-580C29C3CD67}"/>
                    </a:ext>
                  </a:extLst>
                </p:cNvPr>
                <p:cNvSpPr txBox="1"/>
                <p:nvPr/>
              </p:nvSpPr>
              <p:spPr>
                <a:xfrm>
                  <a:off x="8233176" y="917995"/>
                  <a:ext cx="52026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b="1" dirty="0"/>
                    <a:t>X</a:t>
                  </a:r>
                  <a:endParaRPr lang="en-GB" b="1" dirty="0"/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0DFA42-8A18-A0B7-50A2-098E79FFEF2C}"/>
                  </a:ext>
                </a:extLst>
              </p:cNvPr>
              <p:cNvSpPr txBox="1"/>
              <p:nvPr/>
            </p:nvSpPr>
            <p:spPr>
              <a:xfrm>
                <a:off x="2568404" y="2970506"/>
                <a:ext cx="20410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200" b="1" dirty="0"/>
                  <a:t>Grid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10D1374-A8BB-D1F9-BE0D-BB75CB8C47B3}"/>
                  </a:ext>
                </a:extLst>
              </p:cNvPr>
              <p:cNvSpPr txBox="1"/>
              <p:nvPr/>
            </p:nvSpPr>
            <p:spPr>
              <a:xfrm>
                <a:off x="5883221" y="2031531"/>
                <a:ext cx="204107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200" b="1" dirty="0"/>
                  <a:t>Scenario Editor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E4A5CA-6D30-9089-DCEF-3406C494D0F2}"/>
                  </a:ext>
                </a:extLst>
              </p:cNvPr>
              <p:cNvSpPr txBox="1"/>
              <p:nvPr/>
            </p:nvSpPr>
            <p:spPr>
              <a:xfrm>
                <a:off x="5883221" y="3538686"/>
                <a:ext cx="204107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200" b="1" dirty="0"/>
                  <a:t>Simulation Controls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C59975-9A27-F013-47AC-F4ECE76010B7}"/>
                  </a:ext>
                </a:extLst>
              </p:cNvPr>
              <p:cNvSpPr txBox="1"/>
              <p:nvPr/>
            </p:nvSpPr>
            <p:spPr>
              <a:xfrm>
                <a:off x="3119537" y="5477231"/>
                <a:ext cx="20410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200" b="1" dirty="0"/>
                  <a:t>Results Panel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224CAC9-70C3-D5C7-3F79-F5F7ABE371A2}"/>
                  </a:ext>
                </a:extLst>
              </p:cNvPr>
              <p:cNvSpPr txBox="1"/>
              <p:nvPr/>
            </p:nvSpPr>
            <p:spPr>
              <a:xfrm>
                <a:off x="6396100" y="5477230"/>
                <a:ext cx="20410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200" b="1" dirty="0"/>
                  <a:t>Advisor Panel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93FF086-73A8-B7D6-8F92-E14DDE774447}"/>
                </a:ext>
              </a:extLst>
            </p:cNvPr>
            <p:cNvCxnSpPr/>
            <p:nvPr/>
          </p:nvCxnSpPr>
          <p:spPr>
            <a:xfrm>
              <a:off x="2014706" y="4308127"/>
              <a:ext cx="3145903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F3DC27B-6CB7-9905-DD1F-9F01C4E1ABC1}"/>
                </a:ext>
              </a:extLst>
            </p:cNvPr>
            <p:cNvSpPr txBox="1"/>
            <p:nvPr/>
          </p:nvSpPr>
          <p:spPr>
            <a:xfrm>
              <a:off x="2568404" y="4334607"/>
              <a:ext cx="20410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b="1" dirty="0"/>
                <a:t>Legend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B7BAEF0-61CF-A6EC-FD18-99CDB46B9385}"/>
                </a:ext>
              </a:extLst>
            </p:cNvPr>
            <p:cNvSpPr txBox="1"/>
            <p:nvPr/>
          </p:nvSpPr>
          <p:spPr>
            <a:xfrm rot="5400000">
              <a:off x="4714379" y="4411452"/>
              <a:ext cx="520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/>
                <a:t>&gt;</a:t>
              </a:r>
              <a:endParaRPr lang="en-GB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09452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C40DE-2C17-0965-77CF-094047DD0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F684-82A1-39A1-3634-CB7BCC128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23" y="1"/>
            <a:ext cx="9144000" cy="810228"/>
          </a:xfrm>
        </p:spPr>
        <p:txBody>
          <a:bodyPr>
            <a:normAutofit/>
          </a:bodyPr>
          <a:lstStyle/>
          <a:p>
            <a:pPr algn="l"/>
            <a:r>
              <a:rPr lang="en-GB" sz="4800" dirty="0"/>
              <a:t>Example Scenarios Interface Sketch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35FACA6-9ACC-1FFB-04B2-CEB6E9F53B89}"/>
              </a:ext>
            </a:extLst>
          </p:cNvPr>
          <p:cNvGrpSpPr/>
          <p:nvPr/>
        </p:nvGrpSpPr>
        <p:grpSpPr>
          <a:xfrm>
            <a:off x="4568088" y="810229"/>
            <a:ext cx="3055824" cy="5714492"/>
            <a:chOff x="5660020" y="884254"/>
            <a:chExt cx="3055824" cy="571449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9D8DB51-87D5-BB08-19FE-C62F3BD51388}"/>
                </a:ext>
              </a:extLst>
            </p:cNvPr>
            <p:cNvGrpSpPr/>
            <p:nvPr/>
          </p:nvGrpSpPr>
          <p:grpSpPr>
            <a:xfrm>
              <a:off x="5660020" y="884254"/>
              <a:ext cx="3055824" cy="5714492"/>
              <a:chOff x="5660020" y="884254"/>
              <a:chExt cx="3055824" cy="571449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6245816-A580-775C-E22B-2DA6BEA29D3E}"/>
                  </a:ext>
                </a:extLst>
              </p:cNvPr>
              <p:cNvGrpSpPr/>
              <p:nvPr/>
            </p:nvGrpSpPr>
            <p:grpSpPr>
              <a:xfrm>
                <a:off x="5660020" y="884254"/>
                <a:ext cx="3055824" cy="5714492"/>
                <a:chOff x="5660020" y="884254"/>
                <a:chExt cx="3055824" cy="5714492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59326C7B-E43C-A30E-A2F5-42DE078926A3}"/>
                    </a:ext>
                  </a:extLst>
                </p:cNvPr>
                <p:cNvGrpSpPr/>
                <p:nvPr/>
              </p:nvGrpSpPr>
              <p:grpSpPr>
                <a:xfrm>
                  <a:off x="5660020" y="884254"/>
                  <a:ext cx="3055824" cy="5714492"/>
                  <a:chOff x="1823196" y="884254"/>
                  <a:chExt cx="6846019" cy="5714492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DA08C52D-AA08-F314-8EB2-F6BC82A87A1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823196" y="884254"/>
                    <a:ext cx="6846019" cy="5714492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A5AB9A84-E923-1661-2508-185F4C482DA4}"/>
                      </a:ext>
                    </a:extLst>
                  </p:cNvPr>
                  <p:cNvCxnSpPr/>
                  <p:nvPr/>
                </p:nvCxnSpPr>
                <p:spPr>
                  <a:xfrm>
                    <a:off x="1828800" y="1307543"/>
                    <a:ext cx="6840415" cy="0"/>
                  </a:xfrm>
                  <a:prstGeom prst="line">
                    <a:avLst/>
                  </a:prstGeom>
                  <a:ln w="28575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EEA205F-C464-88D1-7A15-749727D1C7D8}"/>
                      </a:ext>
                    </a:extLst>
                  </p:cNvPr>
                  <p:cNvSpPr txBox="1"/>
                  <p:nvPr/>
                </p:nvSpPr>
                <p:spPr>
                  <a:xfrm>
                    <a:off x="7862889" y="884254"/>
                    <a:ext cx="52026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400" b="1" dirty="0"/>
                      <a:t>X</a:t>
                    </a:r>
                    <a:endParaRPr lang="en-GB" b="1" dirty="0"/>
                  </a:p>
                </p:txBody>
              </p:sp>
            </p:grp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B6A4EAC9-7984-1A02-ECAD-749B7BACDCB7}"/>
                    </a:ext>
                  </a:extLst>
                </p:cNvPr>
                <p:cNvCxnSpPr/>
                <p:nvPr/>
              </p:nvCxnSpPr>
              <p:spPr>
                <a:xfrm>
                  <a:off x="5660020" y="1794076"/>
                  <a:ext cx="3055823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D881160-254C-E858-BB21-F84A7046F41D}"/>
                    </a:ext>
                  </a:extLst>
                </p:cNvPr>
                <p:cNvSpPr txBox="1"/>
                <p:nvPr/>
              </p:nvSpPr>
              <p:spPr>
                <a:xfrm>
                  <a:off x="5660020" y="1366144"/>
                  <a:ext cx="20939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i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Search scenarios…</a:t>
                  </a:r>
                </a:p>
              </p:txBody>
            </p:sp>
            <p:pic>
              <p:nvPicPr>
                <p:cNvPr id="10" name="Graphic 9" descr="Magnifying glass with solid fill">
                  <a:extLst>
                    <a:ext uri="{FF2B5EF4-FFF2-40B4-BE49-F238E27FC236}">
                      <a16:creationId xmlns:a16="http://schemas.microsoft.com/office/drawing/2014/main" id="{1B8F3078-7019-3FAB-094D-FEE33CE528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77800" y="1381456"/>
                  <a:ext cx="369330" cy="369330"/>
                </a:xfrm>
                <a:prstGeom prst="rect">
                  <a:avLst/>
                </a:prstGeom>
              </p:spPr>
            </p:pic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FD24EC-469D-8B72-8C57-93D8BFFF560E}"/>
                  </a:ext>
                </a:extLst>
              </p:cNvPr>
              <p:cNvSpPr txBox="1"/>
              <p:nvPr/>
            </p:nvSpPr>
            <p:spPr>
              <a:xfrm>
                <a:off x="7488821" y="6088291"/>
                <a:ext cx="1098602" cy="37038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Continue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C97FCA-5661-BBCD-B722-F6EE2BD954B3}"/>
                  </a:ext>
                </a:extLst>
              </p:cNvPr>
              <p:cNvSpPr txBox="1"/>
              <p:nvPr/>
            </p:nvSpPr>
            <p:spPr>
              <a:xfrm>
                <a:off x="6471516" y="6088291"/>
                <a:ext cx="913135" cy="36933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Cancel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A343F12-BC91-138D-32B6-B189874F94D1}"/>
                  </a:ext>
                </a:extLst>
              </p:cNvPr>
              <p:cNvCxnSpPr/>
              <p:nvPr/>
            </p:nvCxnSpPr>
            <p:spPr>
              <a:xfrm>
                <a:off x="5660020" y="5951317"/>
                <a:ext cx="3055823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647741-B44D-488C-1841-9F086F894EBC}"/>
                </a:ext>
              </a:extLst>
            </p:cNvPr>
            <p:cNvSpPr txBox="1"/>
            <p:nvPr/>
          </p:nvSpPr>
          <p:spPr>
            <a:xfrm>
              <a:off x="6167395" y="3526056"/>
              <a:ext cx="20410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b="1" dirty="0"/>
                <a:t>Scenario List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968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E839-FA2C-4297-3287-7C88F85A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7692-C3A5-B300-F076-2B2D27F13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23" y="1"/>
            <a:ext cx="9144000" cy="810228"/>
          </a:xfrm>
        </p:spPr>
        <p:txBody>
          <a:bodyPr>
            <a:normAutofit/>
          </a:bodyPr>
          <a:lstStyle/>
          <a:p>
            <a:pPr algn="l"/>
            <a:r>
              <a:rPr lang="en-GB" sz="4800" dirty="0"/>
              <a:t>Top-Down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9DCAE5-0BA4-E5EB-36BB-91C695D2777F}"/>
              </a:ext>
            </a:extLst>
          </p:cNvPr>
          <p:cNvSpPr/>
          <p:nvPr/>
        </p:nvSpPr>
        <p:spPr>
          <a:xfrm>
            <a:off x="5217629" y="1009123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Main Program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0373D2-A4C4-EC20-2040-A6B7472DEBDB}"/>
              </a:ext>
            </a:extLst>
          </p:cNvPr>
          <p:cNvSpPr/>
          <p:nvPr/>
        </p:nvSpPr>
        <p:spPr>
          <a:xfrm>
            <a:off x="4307763" y="1817462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Simulation Engine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7EA14C-AB56-639A-43FC-495196F271F1}"/>
              </a:ext>
            </a:extLst>
          </p:cNvPr>
          <p:cNvSpPr/>
          <p:nvPr/>
        </p:nvSpPr>
        <p:spPr>
          <a:xfrm>
            <a:off x="6351628" y="1821471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Pathfinding Engine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058E86-994A-C39F-C399-E5ECF4BE382C}"/>
              </a:ext>
            </a:extLst>
          </p:cNvPr>
          <p:cNvSpPr/>
          <p:nvPr/>
        </p:nvSpPr>
        <p:spPr>
          <a:xfrm>
            <a:off x="8364095" y="1821471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Metrics Engine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81360-88DC-781D-C258-B7CE7D9E7B23}"/>
              </a:ext>
            </a:extLst>
          </p:cNvPr>
          <p:cNvSpPr/>
          <p:nvPr/>
        </p:nvSpPr>
        <p:spPr>
          <a:xfrm>
            <a:off x="10376562" y="1821471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Recommendation Engine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38155-F487-89A5-F547-999A5F623D37}"/>
              </a:ext>
            </a:extLst>
          </p:cNvPr>
          <p:cNvSpPr/>
          <p:nvPr/>
        </p:nvSpPr>
        <p:spPr>
          <a:xfrm>
            <a:off x="274597" y="1821470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User Interface Manager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D82309-EF17-77B6-3288-CFFB38000DBD}"/>
              </a:ext>
            </a:extLst>
          </p:cNvPr>
          <p:cNvSpPr/>
          <p:nvPr/>
        </p:nvSpPr>
        <p:spPr>
          <a:xfrm>
            <a:off x="2295296" y="1821470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Scenario / Grid Manager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9F1634-148D-0DC8-8433-9AD3FC286AF1}"/>
              </a:ext>
            </a:extLst>
          </p:cNvPr>
          <p:cNvSpPr/>
          <p:nvPr/>
        </p:nvSpPr>
        <p:spPr>
          <a:xfrm>
            <a:off x="274597" y="2562001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Scenario Editor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F55F059-2FD0-20F9-D4C9-4FBB587CB353}"/>
              </a:ext>
            </a:extLst>
          </p:cNvPr>
          <p:cNvCxnSpPr>
            <a:stCxn id="11" idx="1"/>
            <a:endCxn id="13" idx="1"/>
          </p:cNvCxnSpPr>
          <p:nvPr/>
        </p:nvCxnSpPr>
        <p:spPr>
          <a:xfrm rot="10800000" flipV="1">
            <a:off x="274597" y="2094212"/>
            <a:ext cx="12700" cy="74053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33C46BC-259C-DC57-6EA9-7A6C5A656233}"/>
              </a:ext>
            </a:extLst>
          </p:cNvPr>
          <p:cNvSpPr/>
          <p:nvPr/>
        </p:nvSpPr>
        <p:spPr>
          <a:xfrm>
            <a:off x="287298" y="3172967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Simulation Controls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313E32-DCA0-086F-6939-9B76468EED38}"/>
              </a:ext>
            </a:extLst>
          </p:cNvPr>
          <p:cNvSpPr/>
          <p:nvPr/>
        </p:nvSpPr>
        <p:spPr>
          <a:xfrm>
            <a:off x="287298" y="3783933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Results Panel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2414C8-469C-8E17-1879-E673E3D611C0}"/>
              </a:ext>
            </a:extLst>
          </p:cNvPr>
          <p:cNvSpPr/>
          <p:nvPr/>
        </p:nvSpPr>
        <p:spPr>
          <a:xfrm>
            <a:off x="287298" y="4394899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Advisor Panel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26F5E6C-5461-6CF2-9C50-6A7DC7A6C5BE}"/>
              </a:ext>
            </a:extLst>
          </p:cNvPr>
          <p:cNvCxnSpPr>
            <a:stCxn id="5" idx="2"/>
            <a:endCxn id="11" idx="0"/>
          </p:cNvCxnSpPr>
          <p:nvPr/>
        </p:nvCxnSpPr>
        <p:spPr>
          <a:xfrm rot="5400000">
            <a:off x="3454836" y="-783477"/>
            <a:ext cx="266862" cy="49430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1BBC6780-D9F0-5D81-894E-ED3D23F90482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rot="5400000">
            <a:off x="4465186" y="226873"/>
            <a:ext cx="266862" cy="29223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1383A7C-9195-5609-51D8-0E87FA81BEEF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5473423" y="1231102"/>
            <a:ext cx="262854" cy="9098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A77790F-43C0-6FC8-0E8B-3CB6038255CF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6493351" y="1121039"/>
            <a:ext cx="266863" cy="11339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9F08A6A-D0A4-59E4-E4A7-765E16173B9A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499585" y="114806"/>
            <a:ext cx="266863" cy="31464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A10E30D-0409-289A-BBB2-805B312E3E0B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8505818" y="-891428"/>
            <a:ext cx="266863" cy="51589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48A360A-2A77-67BF-A956-E6DDC3EA998D}"/>
              </a:ext>
            </a:extLst>
          </p:cNvPr>
          <p:cNvSpPr/>
          <p:nvPr/>
        </p:nvSpPr>
        <p:spPr>
          <a:xfrm>
            <a:off x="2282595" y="2562001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Grid Creation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DD24E14-E257-AEC7-DC62-A5F438095F35}"/>
              </a:ext>
            </a:extLst>
          </p:cNvPr>
          <p:cNvSpPr/>
          <p:nvPr/>
        </p:nvSpPr>
        <p:spPr>
          <a:xfrm>
            <a:off x="2295296" y="3172967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Place / Remove Walls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9DF7972-9715-DE1C-6F4C-7DC5419E3A14}"/>
              </a:ext>
            </a:extLst>
          </p:cNvPr>
          <p:cNvSpPr/>
          <p:nvPr/>
        </p:nvSpPr>
        <p:spPr>
          <a:xfrm>
            <a:off x="2295296" y="3783933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Place / Remove Exits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1608CF-E64E-8175-91D1-99931509A79D}"/>
              </a:ext>
            </a:extLst>
          </p:cNvPr>
          <p:cNvSpPr/>
          <p:nvPr/>
        </p:nvSpPr>
        <p:spPr>
          <a:xfrm>
            <a:off x="2295296" y="4394899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Place / Remove Hazards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3B9B88-FC77-77C7-5ED4-A1D4FEB77C6A}"/>
              </a:ext>
            </a:extLst>
          </p:cNvPr>
          <p:cNvSpPr/>
          <p:nvPr/>
        </p:nvSpPr>
        <p:spPr>
          <a:xfrm>
            <a:off x="287298" y="5005865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Scenario Grid Display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3AB55F-6664-8F97-D98D-2E2854C8FE8B}"/>
              </a:ext>
            </a:extLst>
          </p:cNvPr>
          <p:cNvSpPr/>
          <p:nvPr/>
        </p:nvSpPr>
        <p:spPr>
          <a:xfrm>
            <a:off x="287298" y="5616831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Legend / Help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56634C1-A58B-2312-AB94-C0E7DE00AB3A}"/>
              </a:ext>
            </a:extLst>
          </p:cNvPr>
          <p:cNvSpPr/>
          <p:nvPr/>
        </p:nvSpPr>
        <p:spPr>
          <a:xfrm>
            <a:off x="2295296" y="5005864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Place / Remove Agent Spawns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3D6F744-51C7-2C2F-655A-C33CA75C6D99}"/>
              </a:ext>
            </a:extLst>
          </p:cNvPr>
          <p:cNvSpPr/>
          <p:nvPr/>
        </p:nvSpPr>
        <p:spPr>
          <a:xfrm>
            <a:off x="2295296" y="5616829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Load Example Scenario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285D04-17A3-7F7B-EDD8-35EAE41423A0}"/>
              </a:ext>
            </a:extLst>
          </p:cNvPr>
          <p:cNvSpPr/>
          <p:nvPr/>
        </p:nvSpPr>
        <p:spPr>
          <a:xfrm>
            <a:off x="287298" y="6227797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Recommendation Panel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08E973A-26D6-25D4-50BB-C79C24F6813F}"/>
              </a:ext>
            </a:extLst>
          </p:cNvPr>
          <p:cNvCxnSpPr/>
          <p:nvPr/>
        </p:nvCxnSpPr>
        <p:spPr>
          <a:xfrm rot="10800000" flipV="1">
            <a:off x="2276391" y="2094212"/>
            <a:ext cx="12700" cy="74053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7EB4A74-E187-AF0A-1478-48131C6ACA73}"/>
              </a:ext>
            </a:extLst>
          </p:cNvPr>
          <p:cNvCxnSpPr>
            <a:cxnSpLocks/>
            <a:stCxn id="11" idx="1"/>
            <a:endCxn id="17" idx="1"/>
          </p:cNvCxnSpPr>
          <p:nvPr/>
        </p:nvCxnSpPr>
        <p:spPr>
          <a:xfrm rot="10800000" flipH="1" flipV="1">
            <a:off x="274596" y="2094212"/>
            <a:ext cx="12701" cy="1351497"/>
          </a:xfrm>
          <a:prstGeom prst="bentConnector3">
            <a:avLst>
              <a:gd name="adj1" fmla="val -179985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B95F4709-94F1-6136-879C-183AA8512584}"/>
              </a:ext>
            </a:extLst>
          </p:cNvPr>
          <p:cNvCxnSpPr>
            <a:stCxn id="11" idx="1"/>
            <a:endCxn id="18" idx="1"/>
          </p:cNvCxnSpPr>
          <p:nvPr/>
        </p:nvCxnSpPr>
        <p:spPr>
          <a:xfrm rot="10800000" flipH="1" flipV="1">
            <a:off x="274596" y="2094212"/>
            <a:ext cx="12701" cy="1962463"/>
          </a:xfrm>
          <a:prstGeom prst="bentConnector3">
            <a:avLst>
              <a:gd name="adj1" fmla="val -179985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57515CA9-E98A-8E3A-49A9-8C349F83FD70}"/>
              </a:ext>
            </a:extLst>
          </p:cNvPr>
          <p:cNvCxnSpPr>
            <a:stCxn id="11" idx="1"/>
            <a:endCxn id="19" idx="1"/>
          </p:cNvCxnSpPr>
          <p:nvPr/>
        </p:nvCxnSpPr>
        <p:spPr>
          <a:xfrm rot="10800000" flipH="1" flipV="1">
            <a:off x="274596" y="2094212"/>
            <a:ext cx="12701" cy="2573429"/>
          </a:xfrm>
          <a:prstGeom prst="bentConnector3">
            <a:avLst>
              <a:gd name="adj1" fmla="val -179985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5C3C9F91-0D36-4C90-CCDB-744B7DB60912}"/>
              </a:ext>
            </a:extLst>
          </p:cNvPr>
          <p:cNvCxnSpPr>
            <a:stCxn id="11" idx="1"/>
            <a:endCxn id="50" idx="1"/>
          </p:cNvCxnSpPr>
          <p:nvPr/>
        </p:nvCxnSpPr>
        <p:spPr>
          <a:xfrm rot="10800000" flipH="1" flipV="1">
            <a:off x="274596" y="2094212"/>
            <a:ext cx="12701" cy="3184395"/>
          </a:xfrm>
          <a:prstGeom prst="bentConnector3">
            <a:avLst>
              <a:gd name="adj1" fmla="val -179985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EDDC29CF-8182-42D9-B242-1BE86418A7F5}"/>
              </a:ext>
            </a:extLst>
          </p:cNvPr>
          <p:cNvCxnSpPr>
            <a:stCxn id="11" idx="1"/>
            <a:endCxn id="51" idx="1"/>
          </p:cNvCxnSpPr>
          <p:nvPr/>
        </p:nvCxnSpPr>
        <p:spPr>
          <a:xfrm rot="10800000" flipH="1" flipV="1">
            <a:off x="274596" y="2094212"/>
            <a:ext cx="12701" cy="3795361"/>
          </a:xfrm>
          <a:prstGeom prst="bentConnector3">
            <a:avLst>
              <a:gd name="adj1" fmla="val -179985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AA18D159-4D79-7D98-D1A3-8F0AA9955936}"/>
              </a:ext>
            </a:extLst>
          </p:cNvPr>
          <p:cNvCxnSpPr>
            <a:stCxn id="11" idx="1"/>
            <a:endCxn id="56" idx="1"/>
          </p:cNvCxnSpPr>
          <p:nvPr/>
        </p:nvCxnSpPr>
        <p:spPr>
          <a:xfrm rot="10800000" flipH="1" flipV="1">
            <a:off x="274596" y="2094212"/>
            <a:ext cx="12701" cy="4406327"/>
          </a:xfrm>
          <a:prstGeom prst="bentConnector3">
            <a:avLst>
              <a:gd name="adj1" fmla="val -179985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6178FC35-A2E1-ECAA-46BA-B2C76A9A3E08}"/>
              </a:ext>
            </a:extLst>
          </p:cNvPr>
          <p:cNvCxnSpPr>
            <a:cxnSpLocks/>
            <a:stCxn id="12" idx="1"/>
            <a:endCxn id="47" idx="1"/>
          </p:cNvCxnSpPr>
          <p:nvPr/>
        </p:nvCxnSpPr>
        <p:spPr>
          <a:xfrm rot="10800000" flipV="1">
            <a:off x="2295296" y="2094212"/>
            <a:ext cx="12700" cy="135149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278C49A8-ED11-9558-B993-59E35A289AAE}"/>
              </a:ext>
            </a:extLst>
          </p:cNvPr>
          <p:cNvCxnSpPr>
            <a:stCxn id="12" idx="1"/>
            <a:endCxn id="48" idx="1"/>
          </p:cNvCxnSpPr>
          <p:nvPr/>
        </p:nvCxnSpPr>
        <p:spPr>
          <a:xfrm rot="10800000" flipV="1">
            <a:off x="2295296" y="2094212"/>
            <a:ext cx="12700" cy="196246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434FBDFE-B976-8D6E-2A0E-D940F9AEAB97}"/>
              </a:ext>
            </a:extLst>
          </p:cNvPr>
          <p:cNvCxnSpPr>
            <a:stCxn id="12" idx="1"/>
            <a:endCxn id="49" idx="1"/>
          </p:cNvCxnSpPr>
          <p:nvPr/>
        </p:nvCxnSpPr>
        <p:spPr>
          <a:xfrm rot="10800000" flipV="1">
            <a:off x="2295296" y="2094212"/>
            <a:ext cx="12700" cy="257342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B0EAA16-6107-4BA1-39A7-6DEB9987FBB7}"/>
              </a:ext>
            </a:extLst>
          </p:cNvPr>
          <p:cNvCxnSpPr>
            <a:stCxn id="12" idx="1"/>
            <a:endCxn id="54" idx="1"/>
          </p:cNvCxnSpPr>
          <p:nvPr/>
        </p:nvCxnSpPr>
        <p:spPr>
          <a:xfrm rot="10800000" flipV="1">
            <a:off x="2295296" y="2094213"/>
            <a:ext cx="12700" cy="318439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CB908E38-9B67-6EE5-4A28-E66542822081}"/>
              </a:ext>
            </a:extLst>
          </p:cNvPr>
          <p:cNvCxnSpPr>
            <a:stCxn id="12" idx="1"/>
            <a:endCxn id="55" idx="1"/>
          </p:cNvCxnSpPr>
          <p:nvPr/>
        </p:nvCxnSpPr>
        <p:spPr>
          <a:xfrm rot="10800000" flipV="1">
            <a:off x="2295296" y="2094212"/>
            <a:ext cx="12700" cy="379535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4B1CE1B2-D7D8-F34C-7865-4AB239A77C62}"/>
              </a:ext>
            </a:extLst>
          </p:cNvPr>
          <p:cNvSpPr/>
          <p:nvPr/>
        </p:nvSpPr>
        <p:spPr>
          <a:xfrm>
            <a:off x="4295062" y="2561841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Initialise Simulation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879E0A5-2F20-29D4-1FF1-5569B5AE0084}"/>
              </a:ext>
            </a:extLst>
          </p:cNvPr>
          <p:cNvSpPr/>
          <p:nvPr/>
        </p:nvSpPr>
        <p:spPr>
          <a:xfrm>
            <a:off x="4307763" y="3172807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Run Tick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FAE5FE4-1BB2-F5D6-0078-33CEF02DF94B}"/>
              </a:ext>
            </a:extLst>
          </p:cNvPr>
          <p:cNvSpPr/>
          <p:nvPr/>
        </p:nvSpPr>
        <p:spPr>
          <a:xfrm>
            <a:off x="4307763" y="3783773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Resolve Movement Conflicts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474B3C8-7CB1-26E2-292A-40248E6C43CB}"/>
              </a:ext>
            </a:extLst>
          </p:cNvPr>
          <p:cNvSpPr/>
          <p:nvPr/>
        </p:nvSpPr>
        <p:spPr>
          <a:xfrm>
            <a:off x="4307763" y="4394739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Update Agent Positions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FBFD644-1453-3547-C73D-F58712E1848C}"/>
              </a:ext>
            </a:extLst>
          </p:cNvPr>
          <p:cNvSpPr/>
          <p:nvPr/>
        </p:nvSpPr>
        <p:spPr>
          <a:xfrm>
            <a:off x="4307763" y="5005704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Update Hazard Exposure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BB63A72-5BAA-2534-5321-9D2930B4FB76}"/>
              </a:ext>
            </a:extLst>
          </p:cNvPr>
          <p:cNvSpPr/>
          <p:nvPr/>
        </p:nvSpPr>
        <p:spPr>
          <a:xfrm>
            <a:off x="4307763" y="5616669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Check End Condition</a:t>
            </a: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3E157E6D-A7D4-455C-0CE5-E9869F1DA37D}"/>
              </a:ext>
            </a:extLst>
          </p:cNvPr>
          <p:cNvCxnSpPr/>
          <p:nvPr/>
        </p:nvCxnSpPr>
        <p:spPr>
          <a:xfrm rot="10800000" flipV="1">
            <a:off x="4288754" y="2080590"/>
            <a:ext cx="12700" cy="74053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2FABA282-19F1-FEF1-5B22-8F0C519173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07659" y="2080590"/>
            <a:ext cx="12700" cy="135149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F5A570B9-C95C-4CC9-B58C-D48F647A6F5B}"/>
              </a:ext>
            </a:extLst>
          </p:cNvPr>
          <p:cNvCxnSpPr/>
          <p:nvPr/>
        </p:nvCxnSpPr>
        <p:spPr>
          <a:xfrm rot="10800000" flipV="1">
            <a:off x="4307659" y="2080590"/>
            <a:ext cx="12700" cy="196246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83A1D6B-DF9C-7394-BA07-72B70F835E7A}"/>
              </a:ext>
            </a:extLst>
          </p:cNvPr>
          <p:cNvCxnSpPr/>
          <p:nvPr/>
        </p:nvCxnSpPr>
        <p:spPr>
          <a:xfrm rot="10800000" flipV="1">
            <a:off x="4307659" y="2080590"/>
            <a:ext cx="12700" cy="257342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3E45FBE8-A34B-E8A3-02EE-9E881B8E759F}"/>
              </a:ext>
            </a:extLst>
          </p:cNvPr>
          <p:cNvCxnSpPr/>
          <p:nvPr/>
        </p:nvCxnSpPr>
        <p:spPr>
          <a:xfrm rot="10800000" flipV="1">
            <a:off x="4307659" y="2080591"/>
            <a:ext cx="12700" cy="318439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117FC07-FAAC-5100-DA07-DF1FC97BC63D}"/>
              </a:ext>
            </a:extLst>
          </p:cNvPr>
          <p:cNvCxnSpPr/>
          <p:nvPr/>
        </p:nvCxnSpPr>
        <p:spPr>
          <a:xfrm rot="10800000" flipV="1">
            <a:off x="4307659" y="2080590"/>
            <a:ext cx="12700" cy="379535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A12B3A0-AE3D-2542-DC8E-BFEE24ED2F0D}"/>
              </a:ext>
            </a:extLst>
          </p:cNvPr>
          <p:cNvSpPr/>
          <p:nvPr/>
        </p:nvSpPr>
        <p:spPr>
          <a:xfrm>
            <a:off x="6332724" y="2562000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Breadth-First Search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3249A7A-3FBF-0604-B14C-8C2A36F57461}"/>
              </a:ext>
            </a:extLst>
          </p:cNvPr>
          <p:cNvSpPr/>
          <p:nvPr/>
        </p:nvSpPr>
        <p:spPr>
          <a:xfrm>
            <a:off x="6345425" y="3172966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Dijkstra’s Algorithm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4FA52F2-751C-7E9D-C664-2D982C2C0D6D}"/>
              </a:ext>
            </a:extLst>
          </p:cNvPr>
          <p:cNvSpPr/>
          <p:nvPr/>
        </p:nvSpPr>
        <p:spPr>
          <a:xfrm>
            <a:off x="6345425" y="3783932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A* Search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014AE68-4C2A-F7CA-345F-BD875AFC8D64}"/>
              </a:ext>
            </a:extLst>
          </p:cNvPr>
          <p:cNvSpPr/>
          <p:nvPr/>
        </p:nvSpPr>
        <p:spPr>
          <a:xfrm>
            <a:off x="6345425" y="4394898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Greedy Best-First Search</a:t>
            </a:r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6595B541-EDF0-CC83-9826-6B5EF1E6B474}"/>
              </a:ext>
            </a:extLst>
          </p:cNvPr>
          <p:cNvCxnSpPr/>
          <p:nvPr/>
        </p:nvCxnSpPr>
        <p:spPr>
          <a:xfrm rot="10800000" flipV="1">
            <a:off x="6332724" y="2080590"/>
            <a:ext cx="12700" cy="74053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50B8E058-0300-319E-2BE1-8C839502EA3D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51629" y="2080590"/>
            <a:ext cx="12700" cy="135149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5607001E-4320-ADB0-8783-5CBCDAFDF35A}"/>
              </a:ext>
            </a:extLst>
          </p:cNvPr>
          <p:cNvCxnSpPr/>
          <p:nvPr/>
        </p:nvCxnSpPr>
        <p:spPr>
          <a:xfrm rot="10800000" flipV="1">
            <a:off x="6351629" y="2080590"/>
            <a:ext cx="12700" cy="196246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9FB158B4-788C-C72B-E367-260F89BE29E2}"/>
              </a:ext>
            </a:extLst>
          </p:cNvPr>
          <p:cNvCxnSpPr/>
          <p:nvPr/>
        </p:nvCxnSpPr>
        <p:spPr>
          <a:xfrm rot="10800000" flipV="1">
            <a:off x="6351629" y="2080590"/>
            <a:ext cx="12700" cy="257342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155E48F-CC62-2FE6-B83B-9B58BA944F22}"/>
              </a:ext>
            </a:extLst>
          </p:cNvPr>
          <p:cNvSpPr/>
          <p:nvPr/>
        </p:nvSpPr>
        <p:spPr>
          <a:xfrm>
            <a:off x="8357685" y="2548378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Total Evacuation Time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3C62E80-96BE-FA45-1619-D3E0CEE5F7CB}"/>
              </a:ext>
            </a:extLst>
          </p:cNvPr>
          <p:cNvSpPr/>
          <p:nvPr/>
        </p:nvSpPr>
        <p:spPr>
          <a:xfrm>
            <a:off x="8370386" y="3159344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Average Waiting Time / Congestion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30072B4-35D5-F662-F76D-7B78B64C8ABB}"/>
              </a:ext>
            </a:extLst>
          </p:cNvPr>
          <p:cNvSpPr/>
          <p:nvPr/>
        </p:nvSpPr>
        <p:spPr>
          <a:xfrm>
            <a:off x="8370386" y="3770310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Risk / Safety Score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E5011F4-4C3B-DFC7-2E64-BAEDF3E58C41}"/>
              </a:ext>
            </a:extLst>
          </p:cNvPr>
          <p:cNvSpPr/>
          <p:nvPr/>
        </p:nvSpPr>
        <p:spPr>
          <a:xfrm>
            <a:off x="8370386" y="4381276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Vertices/Nodes/</a:t>
            </a:r>
          </a:p>
          <a:p>
            <a:pPr algn="ctr"/>
            <a:r>
              <a:rPr lang="en-GB" sz="1400" dirty="0"/>
              <a:t>Cells explored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2D929D8-FF30-F8B7-D8D2-249A4D2E8F5A}"/>
              </a:ext>
            </a:extLst>
          </p:cNvPr>
          <p:cNvSpPr/>
          <p:nvPr/>
        </p:nvSpPr>
        <p:spPr>
          <a:xfrm>
            <a:off x="8370386" y="4992241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Algorithm Runtime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38B58DE6-D903-3C84-29E4-B5BC3BC69175}"/>
              </a:ext>
            </a:extLst>
          </p:cNvPr>
          <p:cNvCxnSpPr/>
          <p:nvPr/>
        </p:nvCxnSpPr>
        <p:spPr>
          <a:xfrm rot="10800000" flipV="1">
            <a:off x="8345235" y="2080589"/>
            <a:ext cx="12700" cy="74053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622CACC9-085D-EDF1-23AE-EDAC2A0B1F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64140" y="2080589"/>
            <a:ext cx="12700" cy="135149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6AA64B9E-058A-D58F-4684-12057B88F703}"/>
              </a:ext>
            </a:extLst>
          </p:cNvPr>
          <p:cNvCxnSpPr/>
          <p:nvPr/>
        </p:nvCxnSpPr>
        <p:spPr>
          <a:xfrm rot="10800000" flipV="1">
            <a:off x="8364140" y="2080589"/>
            <a:ext cx="12700" cy="196246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B3C2F794-244B-770E-C938-A199A54DD18F}"/>
              </a:ext>
            </a:extLst>
          </p:cNvPr>
          <p:cNvCxnSpPr/>
          <p:nvPr/>
        </p:nvCxnSpPr>
        <p:spPr>
          <a:xfrm rot="10800000" flipV="1">
            <a:off x="8364140" y="2080589"/>
            <a:ext cx="12700" cy="257342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DA59F6E3-BAA0-BC83-A20D-11FA4F212742}"/>
              </a:ext>
            </a:extLst>
          </p:cNvPr>
          <p:cNvCxnSpPr/>
          <p:nvPr/>
        </p:nvCxnSpPr>
        <p:spPr>
          <a:xfrm rot="10800000" flipV="1">
            <a:off x="8364140" y="2080590"/>
            <a:ext cx="12700" cy="318439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8737CC5-6E84-3EC8-989C-37E05DADBC6A}"/>
              </a:ext>
            </a:extLst>
          </p:cNvPr>
          <p:cNvSpPr/>
          <p:nvPr/>
        </p:nvSpPr>
        <p:spPr>
          <a:xfrm>
            <a:off x="10376562" y="2561841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Extract Scenario Features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758D643-109A-3DB1-3365-0FB5B6BCD185}"/>
              </a:ext>
            </a:extLst>
          </p:cNvPr>
          <p:cNvSpPr/>
          <p:nvPr/>
        </p:nvSpPr>
        <p:spPr>
          <a:xfrm>
            <a:off x="10389263" y="3172807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Normalise Features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02C3A82-5AB5-A285-8676-D3DE990E903E}"/>
              </a:ext>
            </a:extLst>
          </p:cNvPr>
          <p:cNvSpPr/>
          <p:nvPr/>
        </p:nvSpPr>
        <p:spPr>
          <a:xfrm>
            <a:off x="10389263" y="3783773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Calculate Distance to Training Cases</a:t>
            </a:r>
          </a:p>
        </p:txBody>
      </p: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BCECF902-11D2-7B17-D832-09E908A8D14C}"/>
              </a:ext>
            </a:extLst>
          </p:cNvPr>
          <p:cNvCxnSpPr/>
          <p:nvPr/>
        </p:nvCxnSpPr>
        <p:spPr>
          <a:xfrm rot="10800000" flipV="1">
            <a:off x="10370196" y="2080589"/>
            <a:ext cx="12700" cy="74053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9E6B5BC2-3E89-C761-9EF9-3DFBC7759D4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389101" y="2080589"/>
            <a:ext cx="12700" cy="135149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91468240-95D5-54A9-A780-E6B19E6139D8}"/>
              </a:ext>
            </a:extLst>
          </p:cNvPr>
          <p:cNvCxnSpPr/>
          <p:nvPr/>
        </p:nvCxnSpPr>
        <p:spPr>
          <a:xfrm rot="10800000" flipV="1">
            <a:off x="10389101" y="2080589"/>
            <a:ext cx="12700" cy="196246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9A8B494-88F7-CA94-F772-3119BB83EB2E}"/>
              </a:ext>
            </a:extLst>
          </p:cNvPr>
          <p:cNvSpPr/>
          <p:nvPr/>
        </p:nvSpPr>
        <p:spPr>
          <a:xfrm>
            <a:off x="10391043" y="4387829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Select k Nearest Neighbours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232E784-B860-2D72-C4A1-BF30F89F355D}"/>
              </a:ext>
            </a:extLst>
          </p:cNvPr>
          <p:cNvSpPr/>
          <p:nvPr/>
        </p:nvSpPr>
        <p:spPr>
          <a:xfrm>
            <a:off x="10401801" y="4991885"/>
            <a:ext cx="1684307" cy="54548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Recommend Algorithm</a:t>
            </a: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E9A1D8FC-F80A-61EB-957B-3D0ECF008393}"/>
              </a:ext>
            </a:extLst>
          </p:cNvPr>
          <p:cNvCxnSpPr>
            <a:cxnSpLocks/>
            <a:stCxn id="9" idx="1"/>
            <a:endCxn id="126" idx="1"/>
          </p:cNvCxnSpPr>
          <p:nvPr/>
        </p:nvCxnSpPr>
        <p:spPr>
          <a:xfrm rot="10800000" flipH="1" flipV="1">
            <a:off x="10376561" y="2094214"/>
            <a:ext cx="14481" cy="2566358"/>
          </a:xfrm>
          <a:prstGeom prst="bentConnector3">
            <a:avLst>
              <a:gd name="adj1" fmla="val -157862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C1F6404F-1C8C-A9E4-79A5-AC39298B69AB}"/>
              </a:ext>
            </a:extLst>
          </p:cNvPr>
          <p:cNvCxnSpPr>
            <a:stCxn id="9" idx="1"/>
            <a:endCxn id="127" idx="1"/>
          </p:cNvCxnSpPr>
          <p:nvPr/>
        </p:nvCxnSpPr>
        <p:spPr>
          <a:xfrm rot="10800000" flipH="1" flipV="1">
            <a:off x="10376561" y="2094214"/>
            <a:ext cx="25239" cy="3170414"/>
          </a:xfrm>
          <a:prstGeom prst="bentConnector3">
            <a:avLst>
              <a:gd name="adj1" fmla="val -90574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60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38100"/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>
          <a:tailEnd type="triangl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</TotalTime>
  <Words>150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Window Template</vt:lpstr>
      <vt:lpstr>Main User Interface Sketch</vt:lpstr>
      <vt:lpstr>Example Scenarios Interface Sketch</vt:lpstr>
      <vt:lpstr>Top-Down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Angelo Fernandes</dc:creator>
  <cp:lastModifiedBy>Angelo Fernandes</cp:lastModifiedBy>
  <cp:revision>9</cp:revision>
  <dcterms:created xsi:type="dcterms:W3CDTF">2026-03-09T09:41:31Z</dcterms:created>
  <dcterms:modified xsi:type="dcterms:W3CDTF">2026-03-09T14:47:49Z</dcterms:modified>
</cp:coreProperties>
</file>